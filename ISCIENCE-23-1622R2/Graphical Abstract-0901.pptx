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159663" cy="20159663"/>
  <p:notesSz cx="6858000" cy="9144000"/>
  <p:defaultTextStyle>
    <a:defPPr marL="0" marR="0" indent="0" algn="l" defTabSz="755736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88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377866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755736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133602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511468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889338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267204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2645070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022940" algn="ctr" defTabSz="68226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8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D"/>
    <a:srgbClr val="AB4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/>
    <p:restoredTop sz="94697"/>
  </p:normalViewPr>
  <p:slideViewPr>
    <p:cSldViewPr snapToGrid="0">
      <p:cViewPr varScale="1">
        <p:scale>
          <a:sx n="39" d="100"/>
          <a:sy n="39" d="100"/>
        </p:scale>
        <p:origin x="1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1pPr>
    <a:lvl2pPr indent="188933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2pPr>
    <a:lvl3pPr indent="377866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3pPr>
    <a:lvl4pPr indent="566799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4pPr>
    <a:lvl5pPr indent="755736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5pPr>
    <a:lvl6pPr indent="944669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6pPr>
    <a:lvl7pPr indent="1133602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7pPr>
    <a:lvl8pPr indent="1322535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8pPr>
    <a:lvl9pPr indent="1511468" defTabSz="377866" latinLnBrk="0">
      <a:lnSpc>
        <a:spcPct val="117999"/>
      </a:lnSpc>
      <a:defRPr sz="1817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14500" y="685800"/>
            <a:ext cx="3429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04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469981" y="3378614"/>
            <a:ext cx="17219710" cy="6831886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469981" y="10397164"/>
            <a:ext cx="17219710" cy="2333294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038"/>
            </a:lvl1pPr>
            <a:lvl2pPr marL="0" indent="0" algn="ctr">
              <a:spcBef>
                <a:spcPts val="0"/>
              </a:spcBef>
              <a:buSzTx/>
              <a:buNone/>
              <a:defRPr sz="5038"/>
            </a:lvl2pPr>
            <a:lvl3pPr marL="0" indent="0" algn="ctr">
              <a:spcBef>
                <a:spcPts val="0"/>
              </a:spcBef>
              <a:buSzTx/>
              <a:buNone/>
              <a:defRPr sz="5038"/>
            </a:lvl3pPr>
            <a:lvl4pPr marL="0" indent="0" algn="ctr">
              <a:spcBef>
                <a:spcPts val="0"/>
              </a:spcBef>
              <a:buSzTx/>
              <a:buNone/>
              <a:defRPr sz="5038"/>
            </a:lvl4pPr>
            <a:lvl5pPr marL="0" indent="0" algn="ctr">
              <a:spcBef>
                <a:spcPts val="0"/>
              </a:spcBef>
              <a:buSzTx/>
              <a:buNone/>
              <a:defRPr sz="5038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从草地沙丘上欣赏海滩和大海的视图"/>
          <p:cNvSpPr>
            <a:spLocks noGrp="1"/>
          </p:cNvSpPr>
          <p:nvPr>
            <p:ph type="pic" idx="21"/>
          </p:nvPr>
        </p:nvSpPr>
        <p:spPr>
          <a:xfrm>
            <a:off x="2584423" y="-578653"/>
            <a:ext cx="14993751" cy="1777036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524994" y="13981104"/>
            <a:ext cx="19109683" cy="2949283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524994" y="16818391"/>
            <a:ext cx="19109683" cy="2333294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038"/>
            </a:lvl1pPr>
            <a:lvl2pPr marL="0" indent="0" algn="ctr">
              <a:spcBef>
                <a:spcPts val="0"/>
              </a:spcBef>
              <a:buSzTx/>
              <a:buNone/>
              <a:defRPr sz="5038"/>
            </a:lvl2pPr>
            <a:lvl3pPr marL="0" indent="0" algn="ctr">
              <a:spcBef>
                <a:spcPts val="0"/>
              </a:spcBef>
              <a:buSzTx/>
              <a:buNone/>
              <a:defRPr sz="5038"/>
            </a:lvl3pPr>
            <a:lvl4pPr marL="0" indent="0" algn="ctr">
              <a:spcBef>
                <a:spcPts val="0"/>
              </a:spcBef>
              <a:buSzTx/>
              <a:buNone/>
              <a:defRPr sz="5038"/>
            </a:lvl4pPr>
            <a:lvl5pPr marL="0" indent="0" algn="ctr">
              <a:spcBef>
                <a:spcPts val="0"/>
              </a:spcBef>
              <a:buSzTx/>
              <a:buNone/>
              <a:defRPr sz="5038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469981" y="6663894"/>
            <a:ext cx="17219710" cy="683188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在海滩上低飞的苍鹭，前景是低矮的栅栏"/>
          <p:cNvSpPr>
            <a:spLocks noGrp="1"/>
          </p:cNvSpPr>
          <p:nvPr>
            <p:ph type="pic" sz="half" idx="21"/>
          </p:nvPr>
        </p:nvSpPr>
        <p:spPr>
          <a:xfrm>
            <a:off x="10604826" y="1399981"/>
            <a:ext cx="9481342" cy="168557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1364978" y="1399981"/>
            <a:ext cx="8452361" cy="8157195"/>
          </a:xfrm>
          <a:prstGeom prst="rect">
            <a:avLst/>
          </a:prstGeom>
        </p:spPr>
        <p:txBody>
          <a:bodyPr anchor="b"/>
          <a:lstStyle>
            <a:lvl1pPr>
              <a:defRPr sz="7839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64978" y="9594510"/>
            <a:ext cx="8452361" cy="8418524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038"/>
            </a:lvl1pPr>
            <a:lvl2pPr marL="0" indent="0" algn="ctr">
              <a:spcBef>
                <a:spcPts val="0"/>
              </a:spcBef>
              <a:buSzTx/>
              <a:buNone/>
              <a:defRPr sz="5038"/>
            </a:lvl2pPr>
            <a:lvl3pPr marL="0" indent="0" algn="ctr">
              <a:spcBef>
                <a:spcPts val="0"/>
              </a:spcBef>
              <a:buSzTx/>
              <a:buNone/>
              <a:defRPr sz="5038"/>
            </a:lvl3pPr>
            <a:lvl4pPr marL="0" indent="0" algn="ctr">
              <a:spcBef>
                <a:spcPts val="0"/>
              </a:spcBef>
              <a:buSzTx/>
              <a:buNone/>
              <a:defRPr sz="5038"/>
            </a:lvl4pPr>
            <a:lvl5pPr marL="0" indent="0" algn="ctr">
              <a:spcBef>
                <a:spcPts val="0"/>
              </a:spcBef>
              <a:buSzTx/>
              <a:buNone/>
              <a:defRPr sz="5038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479"/>
            </a:lvl1pPr>
            <a:lvl2pPr>
              <a:defRPr sz="4479"/>
            </a:lvl2pPr>
            <a:lvl3pPr>
              <a:defRPr sz="4479"/>
            </a:lvl3pPr>
            <a:lvl4pPr>
              <a:defRPr sz="4479"/>
            </a:lvl4pPr>
            <a:lvl5pPr>
              <a:defRPr sz="4479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通往大海的两座山丘之间的沙路"/>
          <p:cNvSpPr>
            <a:spLocks noGrp="1"/>
          </p:cNvSpPr>
          <p:nvPr>
            <p:ph type="pic" sz="half" idx="21"/>
          </p:nvPr>
        </p:nvSpPr>
        <p:spPr>
          <a:xfrm>
            <a:off x="9061349" y="4629255"/>
            <a:ext cx="11528806" cy="1366377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396480" y="4629255"/>
            <a:ext cx="8452361" cy="13663772"/>
          </a:xfrm>
          <a:prstGeom prst="rect">
            <a:avLst/>
          </a:prstGeom>
        </p:spPr>
        <p:txBody>
          <a:bodyPr/>
          <a:lstStyle>
            <a:lvl1pPr marL="521431" indent="-521431">
              <a:spcBef>
                <a:spcPts val="4202"/>
              </a:spcBef>
              <a:defRPr sz="3545"/>
            </a:lvl1pPr>
            <a:lvl2pPr marL="1042858" indent="-521431">
              <a:spcBef>
                <a:spcPts val="4202"/>
              </a:spcBef>
              <a:defRPr sz="3545"/>
            </a:lvl2pPr>
            <a:lvl3pPr marL="1564291" indent="-521431">
              <a:spcBef>
                <a:spcPts val="4202"/>
              </a:spcBef>
              <a:defRPr sz="3545"/>
            </a:lvl3pPr>
            <a:lvl4pPr marL="2085722" indent="-521431">
              <a:spcBef>
                <a:spcPts val="4202"/>
              </a:spcBef>
              <a:defRPr sz="3545"/>
            </a:lvl4pPr>
            <a:lvl5pPr marL="2607154" indent="-521431">
              <a:spcBef>
                <a:spcPts val="4202"/>
              </a:spcBef>
              <a:defRPr sz="3545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1396478" y="2613291"/>
            <a:ext cx="17366710" cy="14933084"/>
          </a:xfrm>
          <a:prstGeom prst="rect">
            <a:avLst/>
          </a:prstGeom>
        </p:spPr>
        <p:txBody>
          <a:bodyPr/>
          <a:lstStyle>
            <a:lvl1pPr>
              <a:defRPr sz="4479"/>
            </a:lvl1pPr>
            <a:lvl2pPr>
              <a:defRPr sz="4479"/>
            </a:lvl2pPr>
            <a:lvl3pPr>
              <a:defRPr sz="4479"/>
            </a:lvl3pPr>
            <a:lvl4pPr>
              <a:defRPr sz="4479"/>
            </a:lvl4pPr>
            <a:lvl5pPr>
              <a:defRPr sz="4479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通往大海的两座山丘之间的沙路"/>
          <p:cNvSpPr>
            <a:spLocks noGrp="1"/>
          </p:cNvSpPr>
          <p:nvPr>
            <p:ph type="pic" sz="quarter" idx="21"/>
          </p:nvPr>
        </p:nvSpPr>
        <p:spPr>
          <a:xfrm>
            <a:off x="12649667" y="10359833"/>
            <a:ext cx="6882634" cy="815719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在海滩上低飞的苍鹭，前景是低矮的栅栏"/>
          <p:cNvSpPr>
            <a:spLocks noGrp="1"/>
          </p:cNvSpPr>
          <p:nvPr>
            <p:ph type="pic" sz="quarter" idx="22"/>
          </p:nvPr>
        </p:nvSpPr>
        <p:spPr>
          <a:xfrm>
            <a:off x="13030284" y="1269316"/>
            <a:ext cx="6121396" cy="1088248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从草地沙丘上欣赏海滩和大海的视图"/>
          <p:cNvSpPr>
            <a:spLocks noGrp="1"/>
          </p:cNvSpPr>
          <p:nvPr>
            <p:ph type="pic" idx="23"/>
          </p:nvPr>
        </p:nvSpPr>
        <p:spPr>
          <a:xfrm>
            <a:off x="-818986" y="1661311"/>
            <a:ext cx="14222010" cy="168557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苏子柔"/>
          <p:cNvSpPr txBox="1">
            <a:spLocks noGrp="1"/>
          </p:cNvSpPr>
          <p:nvPr>
            <p:ph type="body" sz="quarter" idx="21"/>
          </p:nvPr>
        </p:nvSpPr>
        <p:spPr>
          <a:xfrm>
            <a:off x="1973971" y="13159782"/>
            <a:ext cx="16222228" cy="562077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986" i="1"/>
            </a:lvl1pPr>
          </a:lstStyle>
          <a:p>
            <a:r>
              <a:t>–苏子柔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22"/>
          </p:nvPr>
        </p:nvSpPr>
        <p:spPr>
          <a:xfrm>
            <a:off x="1973971" y="9145981"/>
            <a:ext cx="16222228" cy="78505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479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从草地沙丘上欣赏海滩和大海的视图"/>
          <p:cNvSpPr>
            <a:spLocks noGrp="1"/>
          </p:cNvSpPr>
          <p:nvPr>
            <p:ph type="pic" idx="21"/>
          </p:nvPr>
        </p:nvSpPr>
        <p:spPr>
          <a:xfrm>
            <a:off x="-42000" y="-1866630"/>
            <a:ext cx="20243663" cy="2399248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396478" y="522660"/>
            <a:ext cx="17366710" cy="3359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396478" y="4629255"/>
            <a:ext cx="17366710" cy="1366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9869401" y="19226353"/>
            <a:ext cx="410369" cy="44762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242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26626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853248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279874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706501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133122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559749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2986375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412997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45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592537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185069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777606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370139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962675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555208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47745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40276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32814" marR="0" indent="-592537" algn="l" defTabSz="770293" latinLnBrk="0">
        <a:lnSpc>
          <a:spcPct val="100000"/>
        </a:lnSpc>
        <a:spcBef>
          <a:spcPts val="5505"/>
        </a:spcBef>
        <a:spcAft>
          <a:spcPts val="0"/>
        </a:spcAft>
        <a:buClrTx/>
        <a:buSzPct val="125000"/>
        <a:buFontTx/>
        <a:buChar char="•"/>
        <a:tabLst/>
        <a:defRPr sz="4853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26626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853248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279874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706501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133122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559749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2986375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412997" algn="ctr" defTabSz="77029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42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B6BF86B-2A1D-D64B-AA93-DB829DEEE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968" y="7962764"/>
            <a:ext cx="5685878" cy="880443"/>
          </a:xfrm>
          <a:prstGeom prst="rect">
            <a:avLst/>
          </a:prstGeom>
          <a:ln>
            <a:solidFill>
              <a:srgbClr val="007DBD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571C44-16DE-B76C-83A1-8AE1438E1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06" y="7962765"/>
            <a:ext cx="5685192" cy="877672"/>
          </a:xfrm>
          <a:prstGeom prst="rect">
            <a:avLst/>
          </a:prstGeom>
          <a:ln>
            <a:solidFill>
              <a:srgbClr val="007DBD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2BA05A-A981-DA1C-0779-A6225996A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16" y="7962764"/>
            <a:ext cx="5685192" cy="893427"/>
          </a:xfrm>
          <a:prstGeom prst="rect">
            <a:avLst/>
          </a:prstGeom>
          <a:ln>
            <a:solidFill>
              <a:srgbClr val="007DBD"/>
            </a:solidFill>
          </a:ln>
        </p:spPr>
      </p:pic>
      <p:sp>
        <p:nvSpPr>
          <p:cNvPr id="156" name="线条"/>
          <p:cNvSpPr/>
          <p:nvPr/>
        </p:nvSpPr>
        <p:spPr>
          <a:xfrm>
            <a:off x="6152514" y="6495213"/>
            <a:ext cx="8955000" cy="0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miter lim="400000"/>
            <a:tailEnd type="triangle"/>
          </a:ln>
        </p:spPr>
        <p:txBody>
          <a:bodyPr lIns="47415" tIns="47415" rIns="47415" bIns="47415" anchor="ctr"/>
          <a:lstStyle/>
          <a:p>
            <a:endParaRPr sz="8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19" name="矩形"/>
          <p:cNvSpPr/>
          <p:nvPr/>
        </p:nvSpPr>
        <p:spPr>
          <a:xfrm>
            <a:off x="15369111" y="4893589"/>
            <a:ext cx="3288865" cy="2529270"/>
          </a:xfrm>
          <a:prstGeom prst="rect">
            <a:avLst/>
          </a:prstGeom>
          <a:solidFill>
            <a:srgbClr val="FFFFFF"/>
          </a:solidFill>
          <a:ln w="38100">
            <a:solidFill>
              <a:srgbClr val="007DBD"/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 dirty="0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0" name="矩形"/>
          <p:cNvSpPr/>
          <p:nvPr/>
        </p:nvSpPr>
        <p:spPr>
          <a:xfrm>
            <a:off x="1574509" y="4975897"/>
            <a:ext cx="4261131" cy="2358233"/>
          </a:xfrm>
          <a:prstGeom prst="rect">
            <a:avLst/>
          </a:prstGeom>
          <a:solidFill>
            <a:srgbClr val="FFFFFF"/>
          </a:solidFill>
          <a:ln w="38100">
            <a:solidFill>
              <a:srgbClr val="007DBD"/>
            </a:solidFill>
            <a:custDash>
              <a:ds d="200000" sp="200000"/>
            </a:custDash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1" name="矩形"/>
          <p:cNvSpPr/>
          <p:nvPr/>
        </p:nvSpPr>
        <p:spPr>
          <a:xfrm>
            <a:off x="1330306" y="3945178"/>
            <a:ext cx="17499057" cy="3795598"/>
          </a:xfrm>
          <a:prstGeom prst="rect">
            <a:avLst/>
          </a:prstGeom>
          <a:ln w="38100">
            <a:solidFill>
              <a:srgbClr val="007DBD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2" name="矩形"/>
          <p:cNvSpPr/>
          <p:nvPr/>
        </p:nvSpPr>
        <p:spPr>
          <a:xfrm>
            <a:off x="7236892" y="8195176"/>
            <a:ext cx="5685878" cy="8672449"/>
          </a:xfrm>
          <a:prstGeom prst="rect">
            <a:avLst/>
          </a:prstGeom>
          <a:ln w="38100">
            <a:solidFill>
              <a:srgbClr val="007DBD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3" name="矩形"/>
          <p:cNvSpPr/>
          <p:nvPr/>
        </p:nvSpPr>
        <p:spPr>
          <a:xfrm>
            <a:off x="1307816" y="8195175"/>
            <a:ext cx="5685878" cy="8672450"/>
          </a:xfrm>
          <a:prstGeom prst="rect">
            <a:avLst/>
          </a:prstGeom>
          <a:ln w="38100">
            <a:solidFill>
              <a:srgbClr val="007DBD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4" name="矩形"/>
          <p:cNvSpPr/>
          <p:nvPr/>
        </p:nvSpPr>
        <p:spPr>
          <a:xfrm>
            <a:off x="13165968" y="8195175"/>
            <a:ext cx="5685878" cy="8672448"/>
          </a:xfrm>
          <a:prstGeom prst="rect">
            <a:avLst/>
          </a:prstGeom>
          <a:ln w="38100">
            <a:solidFill>
              <a:srgbClr val="007DBD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6" name="Age- and sex-specific incidence"/>
          <p:cNvSpPr txBox="1"/>
          <p:nvPr/>
        </p:nvSpPr>
        <p:spPr>
          <a:xfrm>
            <a:off x="1451517" y="8123729"/>
            <a:ext cx="5398490" cy="557421"/>
          </a:xfrm>
          <a:prstGeom prst="rect">
            <a:avLst/>
          </a:prstGeom>
          <a:ln w="12700">
            <a:solidFill>
              <a:srgbClr val="007DBD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b="0"/>
            </a:lvl1pPr>
          </a:lstStyle>
          <a:p>
            <a:r>
              <a:rPr lang="en"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Age- and sex-specific incidence</a:t>
            </a:r>
          </a:p>
        </p:txBody>
      </p:sp>
      <p:sp>
        <p:nvSpPr>
          <p:cNvPr id="127" name="Co-occurrence pattern"/>
          <p:cNvSpPr txBox="1"/>
          <p:nvPr/>
        </p:nvSpPr>
        <p:spPr>
          <a:xfrm>
            <a:off x="7381510" y="8119551"/>
            <a:ext cx="5395285" cy="557421"/>
          </a:xfrm>
          <a:prstGeom prst="rect">
            <a:avLst/>
          </a:prstGeom>
          <a:ln w="12700">
            <a:solidFill>
              <a:srgbClr val="007DBD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b="0"/>
            </a:lvl1pPr>
          </a:lstStyle>
          <a:p>
            <a:r>
              <a:rPr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Co-occurrence</a:t>
            </a:r>
            <a:r>
              <a:rPr lang="en-US"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and</a:t>
            </a:r>
            <a:r>
              <a:rPr lang="zh-CN" altLang="en-US"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</a:t>
            </a:r>
            <a:r>
              <a:rPr lang="en-US" altLang="zh-CN"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progression</a:t>
            </a:r>
            <a:endParaRPr sz="3000" b="1" dirty="0">
              <a:solidFill>
                <a:schemeClr val="bg1"/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28" name="Hazard trajectory"/>
          <p:cNvSpPr txBox="1"/>
          <p:nvPr/>
        </p:nvSpPr>
        <p:spPr>
          <a:xfrm>
            <a:off x="14481469" y="8120583"/>
            <a:ext cx="3054899" cy="557421"/>
          </a:xfrm>
          <a:prstGeom prst="rect">
            <a:avLst/>
          </a:prstGeom>
          <a:ln w="12700">
            <a:solidFill>
              <a:srgbClr val="007DBD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b="0"/>
            </a:lvl1pPr>
          </a:lstStyle>
          <a:p>
            <a:r>
              <a:rPr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Hazard trajectory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E44E8C9-1D5E-BA25-CD96-12A44CEC4AA5}"/>
              </a:ext>
            </a:extLst>
          </p:cNvPr>
          <p:cNvGrpSpPr/>
          <p:nvPr/>
        </p:nvGrpSpPr>
        <p:grpSpPr>
          <a:xfrm>
            <a:off x="1707575" y="6215358"/>
            <a:ext cx="593352" cy="781083"/>
            <a:chOff x="3396385" y="2562850"/>
            <a:chExt cx="838219" cy="1059940"/>
          </a:xfrm>
          <a:solidFill>
            <a:srgbClr val="007DBD"/>
          </a:solidFill>
        </p:grpSpPr>
        <p:sp>
          <p:nvSpPr>
            <p:cNvPr id="129" name="男"/>
            <p:cNvSpPr/>
            <p:nvPr/>
          </p:nvSpPr>
          <p:spPr>
            <a:xfrm>
              <a:off x="3842061" y="2563218"/>
              <a:ext cx="392543" cy="10592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>
                <a:latin typeface="InterFace Trial" panose="020B0503020203020204" pitchFamily="34" charset="0"/>
                <a:cs typeface="InterFace Trial" panose="020B0503020203020204" pitchFamily="34" charset="0"/>
              </a:endParaRPr>
            </a:p>
          </p:txBody>
        </p:sp>
        <p:sp>
          <p:nvSpPr>
            <p:cNvPr id="130" name="女"/>
            <p:cNvSpPr/>
            <p:nvPr/>
          </p:nvSpPr>
          <p:spPr>
            <a:xfrm>
              <a:off x="3396385" y="2562850"/>
              <a:ext cx="479212" cy="1059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7" h="21600" extrusionOk="0">
                  <a:moveTo>
                    <a:pt x="10652" y="0"/>
                  </a:moveTo>
                  <a:cubicBezTo>
                    <a:pt x="9610" y="0"/>
                    <a:pt x="8570" y="182"/>
                    <a:pt x="7774" y="547"/>
                  </a:cubicBezTo>
                  <a:cubicBezTo>
                    <a:pt x="6184" y="1276"/>
                    <a:pt x="6184" y="2458"/>
                    <a:pt x="7774" y="3188"/>
                  </a:cubicBezTo>
                  <a:cubicBezTo>
                    <a:pt x="9365" y="3917"/>
                    <a:pt x="11943" y="3917"/>
                    <a:pt x="13534" y="3188"/>
                  </a:cubicBezTo>
                  <a:cubicBezTo>
                    <a:pt x="15124" y="2458"/>
                    <a:pt x="15124" y="1276"/>
                    <a:pt x="13534" y="547"/>
                  </a:cubicBezTo>
                  <a:cubicBezTo>
                    <a:pt x="12738" y="182"/>
                    <a:pt x="11695" y="0"/>
                    <a:pt x="10652" y="0"/>
                  </a:cubicBezTo>
                  <a:close/>
                  <a:moveTo>
                    <a:pt x="7859" y="4109"/>
                  </a:moveTo>
                  <a:cubicBezTo>
                    <a:pt x="5671" y="4109"/>
                    <a:pt x="4499" y="4934"/>
                    <a:pt x="4153" y="5420"/>
                  </a:cubicBezTo>
                  <a:lnTo>
                    <a:pt x="50" y="11877"/>
                  </a:lnTo>
                  <a:cubicBezTo>
                    <a:pt x="-150" y="12205"/>
                    <a:pt x="268" y="12546"/>
                    <a:pt x="985" y="12638"/>
                  </a:cubicBezTo>
                  <a:cubicBezTo>
                    <a:pt x="1106" y="12653"/>
                    <a:pt x="1229" y="12661"/>
                    <a:pt x="1349" y="12661"/>
                  </a:cubicBezTo>
                  <a:cubicBezTo>
                    <a:pt x="1938" y="12661"/>
                    <a:pt x="2478" y="12482"/>
                    <a:pt x="2644" y="12209"/>
                  </a:cubicBezTo>
                  <a:lnTo>
                    <a:pt x="6269" y="6537"/>
                  </a:lnTo>
                  <a:lnTo>
                    <a:pt x="6994" y="6537"/>
                  </a:lnTo>
                  <a:cubicBezTo>
                    <a:pt x="6989" y="6544"/>
                    <a:pt x="6983" y="6551"/>
                    <a:pt x="6979" y="6558"/>
                  </a:cubicBezTo>
                  <a:lnTo>
                    <a:pt x="2405" y="14438"/>
                  </a:lnTo>
                  <a:cubicBezTo>
                    <a:pt x="2329" y="14570"/>
                    <a:pt x="2507" y="14676"/>
                    <a:pt x="2803" y="14676"/>
                  </a:cubicBezTo>
                  <a:lnTo>
                    <a:pt x="6067" y="14676"/>
                  </a:lnTo>
                  <a:lnTo>
                    <a:pt x="6067" y="20674"/>
                  </a:lnTo>
                  <a:cubicBezTo>
                    <a:pt x="6067" y="21185"/>
                    <a:pt x="6972" y="21600"/>
                    <a:pt x="8087" y="21600"/>
                  </a:cubicBezTo>
                  <a:cubicBezTo>
                    <a:pt x="9203" y="21600"/>
                    <a:pt x="10104" y="21185"/>
                    <a:pt x="10104" y="20674"/>
                  </a:cubicBezTo>
                  <a:lnTo>
                    <a:pt x="10104" y="14676"/>
                  </a:lnTo>
                  <a:cubicBezTo>
                    <a:pt x="10326" y="14676"/>
                    <a:pt x="10531" y="14676"/>
                    <a:pt x="10608" y="14676"/>
                  </a:cubicBezTo>
                  <a:cubicBezTo>
                    <a:pt x="10695" y="14676"/>
                    <a:pt x="10945" y="14676"/>
                    <a:pt x="11201" y="14676"/>
                  </a:cubicBezTo>
                  <a:lnTo>
                    <a:pt x="11201" y="20674"/>
                  </a:lnTo>
                  <a:cubicBezTo>
                    <a:pt x="11201" y="21185"/>
                    <a:pt x="12105" y="21600"/>
                    <a:pt x="13221" y="21600"/>
                  </a:cubicBezTo>
                  <a:cubicBezTo>
                    <a:pt x="14337" y="21600"/>
                    <a:pt x="15238" y="21185"/>
                    <a:pt x="15238" y="20674"/>
                  </a:cubicBezTo>
                  <a:lnTo>
                    <a:pt x="15238" y="14676"/>
                  </a:lnTo>
                  <a:lnTo>
                    <a:pt x="18410" y="14676"/>
                  </a:lnTo>
                  <a:cubicBezTo>
                    <a:pt x="18706" y="14676"/>
                    <a:pt x="18887" y="14570"/>
                    <a:pt x="18811" y="14438"/>
                  </a:cubicBezTo>
                  <a:lnTo>
                    <a:pt x="14237" y="6558"/>
                  </a:lnTo>
                  <a:cubicBezTo>
                    <a:pt x="14233" y="6551"/>
                    <a:pt x="14227" y="6544"/>
                    <a:pt x="14222" y="6537"/>
                  </a:cubicBezTo>
                  <a:lnTo>
                    <a:pt x="14932" y="6537"/>
                  </a:lnTo>
                  <a:lnTo>
                    <a:pt x="18656" y="12192"/>
                  </a:lnTo>
                  <a:cubicBezTo>
                    <a:pt x="18827" y="12463"/>
                    <a:pt x="19364" y="12638"/>
                    <a:pt x="19948" y="12638"/>
                  </a:cubicBezTo>
                  <a:cubicBezTo>
                    <a:pt x="20072" y="12638"/>
                    <a:pt x="20199" y="12631"/>
                    <a:pt x="20324" y="12614"/>
                  </a:cubicBezTo>
                  <a:cubicBezTo>
                    <a:pt x="21038" y="12519"/>
                    <a:pt x="21450" y="12177"/>
                    <a:pt x="21244" y="11850"/>
                  </a:cubicBezTo>
                  <a:lnTo>
                    <a:pt x="17037" y="5432"/>
                  </a:lnTo>
                  <a:lnTo>
                    <a:pt x="17022" y="5407"/>
                  </a:lnTo>
                  <a:cubicBezTo>
                    <a:pt x="16669" y="4924"/>
                    <a:pt x="15494" y="4112"/>
                    <a:pt x="13328" y="4112"/>
                  </a:cubicBezTo>
                  <a:cubicBezTo>
                    <a:pt x="13316" y="4112"/>
                    <a:pt x="13303" y="4112"/>
                    <a:pt x="13291" y="4112"/>
                  </a:cubicBezTo>
                  <a:lnTo>
                    <a:pt x="12768" y="4114"/>
                  </a:lnTo>
                  <a:cubicBezTo>
                    <a:pt x="12732" y="4113"/>
                    <a:pt x="12698" y="4109"/>
                    <a:pt x="12662" y="4109"/>
                  </a:cubicBezTo>
                  <a:lnTo>
                    <a:pt x="7859" y="4109"/>
                  </a:ln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200">
                <a:latin typeface="InterFace Trial" panose="020B0503020203020204" pitchFamily="34" charset="0"/>
                <a:cs typeface="InterFace Trial" panose="020B0503020203020204" pitchFamily="34" charset="0"/>
              </a:endParaRPr>
            </a:p>
          </p:txBody>
        </p:sp>
      </p:grpSp>
      <p:pic>
        <p:nvPicPr>
          <p:cNvPr id="131" name="hrs-logo-blue-black.png" descr="hrs-logo-blue-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1234" y="5218885"/>
            <a:ext cx="3502442" cy="682296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文本"/>
          <p:cNvSpPr txBox="1"/>
          <p:nvPr/>
        </p:nvSpPr>
        <p:spPr>
          <a:xfrm>
            <a:off x="1832415" y="5420053"/>
            <a:ext cx="95821" cy="29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 algn="l" defTabSz="426626">
              <a:defRPr sz="1400" b="0">
                <a:solidFill>
                  <a:srgbClr val="0A708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1308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3" name="2015 born in 1942-1947…"/>
          <p:cNvSpPr txBox="1"/>
          <p:nvPr/>
        </p:nvSpPr>
        <p:spPr>
          <a:xfrm>
            <a:off x="2320308" y="6059639"/>
            <a:ext cx="3368447" cy="108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 marL="246887" indent="-246887" algn="l">
              <a:buSzPct val="125000"/>
              <a:buChar char="•"/>
              <a:defRPr sz="2000" b="0"/>
            </a:pPr>
            <a:r>
              <a:rPr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2015 born in 1942-1947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from WB</a:t>
            </a:r>
            <a:endParaRPr sz="160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  <a:p>
            <a:pPr marL="246887" indent="-246887" algn="l">
              <a:buSzPct val="125000"/>
              <a:buChar char="•"/>
              <a:defRPr sz="2000" b="0"/>
            </a:pPr>
            <a:r>
              <a:rPr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9315 born in 1931-1941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from HRS</a:t>
            </a:r>
            <a:endParaRPr sz="160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  <a:p>
            <a:pPr marL="246887" indent="-246887" algn="l">
              <a:buSzPct val="125000"/>
              <a:buChar char="•"/>
              <a:defRPr sz="2000" b="0"/>
            </a:pPr>
            <a:r>
              <a:rPr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2071 born in 1924-1930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from CODA</a:t>
            </a:r>
            <a:endParaRPr sz="160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  <a:p>
            <a:pPr marL="246887" indent="-246887" algn="l">
              <a:buSzPct val="125000"/>
              <a:buChar char="•"/>
              <a:defRPr sz="2000" b="0"/>
            </a:pPr>
            <a:r>
              <a:rPr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4513 born before 1924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 from AHEAD</a:t>
            </a:r>
            <a:endParaRPr sz="160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4" name="圆形"/>
          <p:cNvSpPr/>
          <p:nvPr/>
        </p:nvSpPr>
        <p:spPr>
          <a:xfrm>
            <a:off x="6152516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5" name="圆形"/>
          <p:cNvSpPr/>
          <p:nvPr/>
        </p:nvSpPr>
        <p:spPr>
          <a:xfrm>
            <a:off x="6982271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6" name="圆形"/>
          <p:cNvSpPr/>
          <p:nvPr/>
        </p:nvSpPr>
        <p:spPr>
          <a:xfrm>
            <a:off x="7812027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7" name="圆形"/>
          <p:cNvSpPr/>
          <p:nvPr/>
        </p:nvSpPr>
        <p:spPr>
          <a:xfrm>
            <a:off x="8641784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8" name="圆形"/>
          <p:cNvSpPr/>
          <p:nvPr/>
        </p:nvSpPr>
        <p:spPr>
          <a:xfrm>
            <a:off x="9471545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39" name="圆形"/>
          <p:cNvSpPr/>
          <p:nvPr/>
        </p:nvSpPr>
        <p:spPr>
          <a:xfrm>
            <a:off x="10301301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0" name="圆形"/>
          <p:cNvSpPr/>
          <p:nvPr/>
        </p:nvSpPr>
        <p:spPr>
          <a:xfrm>
            <a:off x="11131057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1" name="圆形"/>
          <p:cNvSpPr/>
          <p:nvPr/>
        </p:nvSpPr>
        <p:spPr>
          <a:xfrm>
            <a:off x="11960814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2" name="圆形"/>
          <p:cNvSpPr/>
          <p:nvPr/>
        </p:nvSpPr>
        <p:spPr>
          <a:xfrm>
            <a:off x="12790570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3" name="圆形"/>
          <p:cNvSpPr/>
          <p:nvPr/>
        </p:nvSpPr>
        <p:spPr>
          <a:xfrm>
            <a:off x="13620331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4" name="2000"/>
          <p:cNvSpPr txBox="1"/>
          <p:nvPr/>
        </p:nvSpPr>
        <p:spPr>
          <a:xfrm>
            <a:off x="5902792" y="6633415"/>
            <a:ext cx="796269" cy="711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 dirty="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2000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Baseline</a:t>
            </a:r>
            <a:endParaRPr sz="1600" dirty="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45" name="2018"/>
          <p:cNvSpPr txBox="1"/>
          <p:nvPr/>
        </p:nvSpPr>
        <p:spPr>
          <a:xfrm>
            <a:off x="13399162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2018</a:t>
            </a:r>
          </a:p>
        </p:txBody>
      </p:sp>
      <p:sp>
        <p:nvSpPr>
          <p:cNvPr id="146" name="2002"/>
          <p:cNvSpPr txBox="1"/>
          <p:nvPr/>
        </p:nvSpPr>
        <p:spPr>
          <a:xfrm>
            <a:off x="6761103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2002</a:t>
            </a:r>
          </a:p>
        </p:txBody>
      </p:sp>
      <p:sp>
        <p:nvSpPr>
          <p:cNvPr id="147" name="2004"/>
          <p:cNvSpPr txBox="1"/>
          <p:nvPr/>
        </p:nvSpPr>
        <p:spPr>
          <a:xfrm>
            <a:off x="7590864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2004</a:t>
            </a:r>
          </a:p>
        </p:txBody>
      </p:sp>
      <p:sp>
        <p:nvSpPr>
          <p:cNvPr id="148" name="2006"/>
          <p:cNvSpPr txBox="1"/>
          <p:nvPr/>
        </p:nvSpPr>
        <p:spPr>
          <a:xfrm>
            <a:off x="8420621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2006</a:t>
            </a:r>
          </a:p>
        </p:txBody>
      </p:sp>
      <p:sp>
        <p:nvSpPr>
          <p:cNvPr id="149" name="2008"/>
          <p:cNvSpPr txBox="1"/>
          <p:nvPr/>
        </p:nvSpPr>
        <p:spPr>
          <a:xfrm>
            <a:off x="9250377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2008</a:t>
            </a:r>
          </a:p>
        </p:txBody>
      </p:sp>
      <p:sp>
        <p:nvSpPr>
          <p:cNvPr id="150" name="2010"/>
          <p:cNvSpPr txBox="1"/>
          <p:nvPr/>
        </p:nvSpPr>
        <p:spPr>
          <a:xfrm>
            <a:off x="10080133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2010</a:t>
            </a:r>
          </a:p>
        </p:txBody>
      </p:sp>
      <p:sp>
        <p:nvSpPr>
          <p:cNvPr id="151" name="2012"/>
          <p:cNvSpPr txBox="1"/>
          <p:nvPr/>
        </p:nvSpPr>
        <p:spPr>
          <a:xfrm>
            <a:off x="10909890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2012</a:t>
            </a:r>
          </a:p>
        </p:txBody>
      </p:sp>
      <p:sp>
        <p:nvSpPr>
          <p:cNvPr id="152" name="2014"/>
          <p:cNvSpPr txBox="1"/>
          <p:nvPr/>
        </p:nvSpPr>
        <p:spPr>
          <a:xfrm>
            <a:off x="11739650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 dirty="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2014</a:t>
            </a:r>
          </a:p>
        </p:txBody>
      </p:sp>
      <p:sp>
        <p:nvSpPr>
          <p:cNvPr id="153" name="2016"/>
          <p:cNvSpPr txBox="1"/>
          <p:nvPr/>
        </p:nvSpPr>
        <p:spPr>
          <a:xfrm>
            <a:off x="12569407" y="6656906"/>
            <a:ext cx="762605" cy="4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2016</a:t>
            </a:r>
          </a:p>
        </p:txBody>
      </p:sp>
      <p:sp>
        <p:nvSpPr>
          <p:cNvPr id="154" name="圆形"/>
          <p:cNvSpPr/>
          <p:nvPr/>
        </p:nvSpPr>
        <p:spPr>
          <a:xfrm>
            <a:off x="14450088" y="6335085"/>
            <a:ext cx="320256" cy="320256"/>
          </a:xfrm>
          <a:prstGeom prst="ellipse">
            <a:avLst/>
          </a:pr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55" name="2020"/>
          <p:cNvSpPr txBox="1"/>
          <p:nvPr/>
        </p:nvSpPr>
        <p:spPr>
          <a:xfrm>
            <a:off x="13845571" y="6668582"/>
            <a:ext cx="1463118" cy="711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sz="2000" b="0"/>
            </a:lvl1pPr>
          </a:lstStyle>
          <a:p>
            <a:r>
              <a:rPr sz="2400" dirty="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2020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End of follow-up</a:t>
            </a:r>
            <a:endParaRPr sz="1600" dirty="0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57" name="布局文稿"/>
          <p:cNvSpPr/>
          <p:nvPr/>
        </p:nvSpPr>
        <p:spPr>
          <a:xfrm>
            <a:off x="6152516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58" name="布局文稿"/>
          <p:cNvSpPr/>
          <p:nvPr/>
        </p:nvSpPr>
        <p:spPr>
          <a:xfrm>
            <a:off x="6982271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59" name="布局文稿"/>
          <p:cNvSpPr/>
          <p:nvPr/>
        </p:nvSpPr>
        <p:spPr>
          <a:xfrm>
            <a:off x="7812027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0" name="布局文稿"/>
          <p:cNvSpPr/>
          <p:nvPr/>
        </p:nvSpPr>
        <p:spPr>
          <a:xfrm>
            <a:off x="8645081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1" name="布局文稿"/>
          <p:cNvSpPr/>
          <p:nvPr/>
        </p:nvSpPr>
        <p:spPr>
          <a:xfrm>
            <a:off x="9471545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2" name="布局文稿"/>
          <p:cNvSpPr/>
          <p:nvPr/>
        </p:nvSpPr>
        <p:spPr>
          <a:xfrm>
            <a:off x="10301301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3" name="布局文稿"/>
          <p:cNvSpPr/>
          <p:nvPr/>
        </p:nvSpPr>
        <p:spPr>
          <a:xfrm>
            <a:off x="11131057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4" name="布局文稿"/>
          <p:cNvSpPr/>
          <p:nvPr/>
        </p:nvSpPr>
        <p:spPr>
          <a:xfrm>
            <a:off x="11960814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5" name="布局文稿"/>
          <p:cNvSpPr/>
          <p:nvPr/>
        </p:nvSpPr>
        <p:spPr>
          <a:xfrm>
            <a:off x="12790570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6" name="布局文稿"/>
          <p:cNvSpPr/>
          <p:nvPr/>
        </p:nvSpPr>
        <p:spPr>
          <a:xfrm>
            <a:off x="13620331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7" name="布局文稿"/>
          <p:cNvSpPr/>
          <p:nvPr/>
        </p:nvSpPr>
        <p:spPr>
          <a:xfrm>
            <a:off x="14446790" y="5774991"/>
            <a:ext cx="320256" cy="414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4"/>
                  <a:pt x="0" y="164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7"/>
                </a:lnTo>
                <a:cubicBezTo>
                  <a:pt x="21600" y="5865"/>
                  <a:pt x="21567" y="5839"/>
                  <a:pt x="21525" y="5839"/>
                </a:cubicBezTo>
                <a:lnTo>
                  <a:pt x="14257" y="5839"/>
                </a:lnTo>
                <a:cubicBezTo>
                  <a:pt x="14140" y="5839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2"/>
                  <a:pt x="15185" y="5122"/>
                </a:cubicBezTo>
                <a:lnTo>
                  <a:pt x="21419" y="5122"/>
                </a:lnTo>
                <a:cubicBezTo>
                  <a:pt x="21486" y="5122"/>
                  <a:pt x="21519" y="5059"/>
                  <a:pt x="21472" y="5023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4056" y="7813"/>
                </a:moveTo>
                <a:lnTo>
                  <a:pt x="9151" y="7813"/>
                </a:lnTo>
                <a:cubicBezTo>
                  <a:pt x="9263" y="7813"/>
                  <a:pt x="9352" y="7882"/>
                  <a:pt x="9352" y="7968"/>
                </a:cubicBezTo>
                <a:lnTo>
                  <a:pt x="9352" y="11418"/>
                </a:lnTo>
                <a:cubicBezTo>
                  <a:pt x="9352" y="11504"/>
                  <a:pt x="9263" y="11573"/>
                  <a:pt x="9151" y="11573"/>
                </a:cubicBezTo>
                <a:lnTo>
                  <a:pt x="4056" y="11573"/>
                </a:lnTo>
                <a:cubicBezTo>
                  <a:pt x="3945" y="11573"/>
                  <a:pt x="3853" y="11504"/>
                  <a:pt x="3853" y="11418"/>
                </a:cubicBezTo>
                <a:lnTo>
                  <a:pt x="3853" y="7968"/>
                </a:lnTo>
                <a:cubicBezTo>
                  <a:pt x="3853" y="7882"/>
                  <a:pt x="3945" y="7813"/>
                  <a:pt x="4056" y="7813"/>
                </a:cubicBezTo>
                <a:close/>
                <a:moveTo>
                  <a:pt x="11327" y="7813"/>
                </a:moveTo>
                <a:lnTo>
                  <a:pt x="17677" y="7813"/>
                </a:lnTo>
                <a:cubicBezTo>
                  <a:pt x="17715" y="7813"/>
                  <a:pt x="17747" y="7838"/>
                  <a:pt x="17747" y="7868"/>
                </a:cubicBezTo>
                <a:lnTo>
                  <a:pt x="17747" y="8836"/>
                </a:lnTo>
                <a:cubicBezTo>
                  <a:pt x="17747" y="8866"/>
                  <a:pt x="17715" y="8889"/>
                  <a:pt x="17677" y="8889"/>
                </a:cubicBezTo>
                <a:lnTo>
                  <a:pt x="11329" y="8889"/>
                </a:lnTo>
                <a:cubicBezTo>
                  <a:pt x="11291" y="8889"/>
                  <a:pt x="11259" y="8866"/>
                  <a:pt x="11259" y="8836"/>
                </a:cubicBezTo>
                <a:lnTo>
                  <a:pt x="11259" y="7866"/>
                </a:lnTo>
                <a:cubicBezTo>
                  <a:pt x="11259" y="7837"/>
                  <a:pt x="11291" y="7813"/>
                  <a:pt x="11327" y="7813"/>
                </a:cubicBezTo>
                <a:close/>
                <a:moveTo>
                  <a:pt x="4859" y="8530"/>
                </a:moveTo>
                <a:cubicBezTo>
                  <a:pt x="4817" y="8530"/>
                  <a:pt x="4781" y="8558"/>
                  <a:pt x="4781" y="8590"/>
                </a:cubicBezTo>
                <a:lnTo>
                  <a:pt x="4781" y="10798"/>
                </a:lnTo>
                <a:cubicBezTo>
                  <a:pt x="4781" y="10830"/>
                  <a:pt x="4816" y="10855"/>
                  <a:pt x="4859" y="10856"/>
                </a:cubicBezTo>
                <a:lnTo>
                  <a:pt x="8349" y="10856"/>
                </a:lnTo>
                <a:cubicBezTo>
                  <a:pt x="8391" y="10856"/>
                  <a:pt x="8424" y="10830"/>
                  <a:pt x="8424" y="10798"/>
                </a:cubicBezTo>
                <a:lnTo>
                  <a:pt x="8424" y="8590"/>
                </a:lnTo>
                <a:cubicBezTo>
                  <a:pt x="8424" y="8558"/>
                  <a:pt x="8391" y="8530"/>
                  <a:pt x="8349" y="8530"/>
                </a:cubicBezTo>
                <a:lnTo>
                  <a:pt x="4859" y="8530"/>
                </a:lnTo>
                <a:close/>
                <a:moveTo>
                  <a:pt x="11329" y="10498"/>
                </a:moveTo>
                <a:lnTo>
                  <a:pt x="17677" y="10498"/>
                </a:lnTo>
                <a:cubicBezTo>
                  <a:pt x="17715" y="10498"/>
                  <a:pt x="17747" y="10522"/>
                  <a:pt x="17747" y="10552"/>
                </a:cubicBezTo>
                <a:lnTo>
                  <a:pt x="17747" y="11519"/>
                </a:lnTo>
                <a:cubicBezTo>
                  <a:pt x="17747" y="11548"/>
                  <a:pt x="17715" y="11573"/>
                  <a:pt x="17677" y="11573"/>
                </a:cubicBezTo>
                <a:lnTo>
                  <a:pt x="11329" y="11573"/>
                </a:lnTo>
                <a:cubicBezTo>
                  <a:pt x="11291" y="11573"/>
                  <a:pt x="11259" y="11548"/>
                  <a:pt x="11259" y="11519"/>
                </a:cubicBezTo>
                <a:lnTo>
                  <a:pt x="11259" y="10552"/>
                </a:lnTo>
                <a:cubicBezTo>
                  <a:pt x="11259" y="10522"/>
                  <a:pt x="11291" y="10498"/>
                  <a:pt x="11329" y="10498"/>
                </a:cubicBezTo>
                <a:close/>
                <a:moveTo>
                  <a:pt x="3923" y="13182"/>
                </a:moveTo>
                <a:lnTo>
                  <a:pt x="17677" y="13182"/>
                </a:lnTo>
                <a:cubicBezTo>
                  <a:pt x="17715" y="13182"/>
                  <a:pt x="17747" y="13207"/>
                  <a:pt x="17747" y="13236"/>
                </a:cubicBezTo>
                <a:lnTo>
                  <a:pt x="17747" y="14205"/>
                </a:lnTo>
                <a:cubicBezTo>
                  <a:pt x="17747" y="14234"/>
                  <a:pt x="17715" y="14257"/>
                  <a:pt x="17677" y="14257"/>
                </a:cubicBezTo>
                <a:lnTo>
                  <a:pt x="3923" y="14257"/>
                </a:lnTo>
                <a:cubicBezTo>
                  <a:pt x="3885" y="14257"/>
                  <a:pt x="3853" y="14234"/>
                  <a:pt x="3853" y="14205"/>
                </a:cubicBezTo>
                <a:lnTo>
                  <a:pt x="3853" y="13236"/>
                </a:lnTo>
                <a:cubicBezTo>
                  <a:pt x="3853" y="13207"/>
                  <a:pt x="3885" y="13182"/>
                  <a:pt x="3923" y="13182"/>
                </a:cubicBezTo>
                <a:close/>
                <a:moveTo>
                  <a:pt x="3923" y="15866"/>
                </a:moveTo>
                <a:lnTo>
                  <a:pt x="17677" y="15866"/>
                </a:lnTo>
                <a:cubicBezTo>
                  <a:pt x="17715" y="15866"/>
                  <a:pt x="17747" y="15891"/>
                  <a:pt x="17747" y="15920"/>
                </a:cubicBezTo>
                <a:lnTo>
                  <a:pt x="17747" y="16889"/>
                </a:lnTo>
                <a:cubicBezTo>
                  <a:pt x="17747" y="16918"/>
                  <a:pt x="17715" y="16941"/>
                  <a:pt x="17677" y="16941"/>
                </a:cubicBezTo>
                <a:lnTo>
                  <a:pt x="3923" y="16941"/>
                </a:lnTo>
                <a:cubicBezTo>
                  <a:pt x="3885" y="16941"/>
                  <a:pt x="3853" y="16918"/>
                  <a:pt x="3853" y="16889"/>
                </a:cubicBezTo>
                <a:lnTo>
                  <a:pt x="3853" y="15920"/>
                </a:lnTo>
                <a:cubicBezTo>
                  <a:pt x="3853" y="15891"/>
                  <a:pt x="3885" y="15866"/>
                  <a:pt x="3923" y="15866"/>
                </a:cubicBezTo>
                <a:close/>
              </a:path>
            </a:pathLst>
          </a:custGeom>
          <a:solidFill>
            <a:srgbClr val="007DB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solidFill>
                <a:schemeClr val="bg2">
                  <a:lumMod val="2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8" name="睡觉"/>
          <p:cNvSpPr/>
          <p:nvPr/>
        </p:nvSpPr>
        <p:spPr>
          <a:xfrm>
            <a:off x="15633796" y="5194888"/>
            <a:ext cx="522532" cy="352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8" y="0"/>
                </a:moveTo>
                <a:cubicBezTo>
                  <a:pt x="112" y="0"/>
                  <a:pt x="0" y="190"/>
                  <a:pt x="0" y="421"/>
                </a:cubicBezTo>
                <a:lnTo>
                  <a:pt x="0" y="21181"/>
                </a:lnTo>
                <a:cubicBezTo>
                  <a:pt x="0" y="21413"/>
                  <a:pt x="112" y="21600"/>
                  <a:pt x="248" y="21600"/>
                </a:cubicBezTo>
                <a:lnTo>
                  <a:pt x="1237" y="21600"/>
                </a:lnTo>
                <a:cubicBezTo>
                  <a:pt x="1373" y="21600"/>
                  <a:pt x="1483" y="21413"/>
                  <a:pt x="1483" y="21181"/>
                </a:cubicBezTo>
                <a:lnTo>
                  <a:pt x="1483" y="15050"/>
                </a:lnTo>
                <a:lnTo>
                  <a:pt x="19762" y="15050"/>
                </a:lnTo>
                <a:cubicBezTo>
                  <a:pt x="19898" y="15050"/>
                  <a:pt x="20010" y="15239"/>
                  <a:pt x="20010" y="15471"/>
                </a:cubicBezTo>
                <a:lnTo>
                  <a:pt x="20010" y="21181"/>
                </a:lnTo>
                <a:cubicBezTo>
                  <a:pt x="20010" y="21413"/>
                  <a:pt x="20122" y="21600"/>
                  <a:pt x="20258" y="21600"/>
                </a:cubicBezTo>
                <a:lnTo>
                  <a:pt x="21247" y="21600"/>
                </a:lnTo>
                <a:cubicBezTo>
                  <a:pt x="21383" y="21600"/>
                  <a:pt x="21494" y="21413"/>
                  <a:pt x="21494" y="21181"/>
                </a:cubicBezTo>
                <a:lnTo>
                  <a:pt x="21494" y="12943"/>
                </a:lnTo>
                <a:cubicBezTo>
                  <a:pt x="21494" y="12712"/>
                  <a:pt x="21383" y="12522"/>
                  <a:pt x="21247" y="12522"/>
                </a:cubicBezTo>
                <a:lnTo>
                  <a:pt x="1483" y="12522"/>
                </a:lnTo>
                <a:lnTo>
                  <a:pt x="1483" y="421"/>
                </a:lnTo>
                <a:cubicBezTo>
                  <a:pt x="1483" y="190"/>
                  <a:pt x="1373" y="0"/>
                  <a:pt x="1237" y="0"/>
                </a:cubicBezTo>
                <a:lnTo>
                  <a:pt x="248" y="0"/>
                </a:lnTo>
                <a:close/>
                <a:moveTo>
                  <a:pt x="7810" y="887"/>
                </a:moveTo>
                <a:cubicBezTo>
                  <a:pt x="7807" y="887"/>
                  <a:pt x="7803" y="890"/>
                  <a:pt x="7803" y="895"/>
                </a:cubicBezTo>
                <a:lnTo>
                  <a:pt x="7803" y="972"/>
                </a:lnTo>
                <a:cubicBezTo>
                  <a:pt x="7803" y="977"/>
                  <a:pt x="7807" y="980"/>
                  <a:pt x="7810" y="980"/>
                </a:cubicBezTo>
                <a:lnTo>
                  <a:pt x="7881" y="980"/>
                </a:lnTo>
                <a:cubicBezTo>
                  <a:pt x="7883" y="980"/>
                  <a:pt x="7886" y="977"/>
                  <a:pt x="7886" y="972"/>
                </a:cubicBezTo>
                <a:lnTo>
                  <a:pt x="7886" y="895"/>
                </a:lnTo>
                <a:cubicBezTo>
                  <a:pt x="7886" y="890"/>
                  <a:pt x="7884" y="887"/>
                  <a:pt x="7881" y="887"/>
                </a:cubicBezTo>
                <a:lnTo>
                  <a:pt x="7810" y="887"/>
                </a:lnTo>
                <a:close/>
                <a:moveTo>
                  <a:pt x="4389" y="2142"/>
                </a:moveTo>
                <a:cubicBezTo>
                  <a:pt x="3937" y="2142"/>
                  <a:pt x="3485" y="2433"/>
                  <a:pt x="3140" y="3020"/>
                </a:cubicBezTo>
                <a:cubicBezTo>
                  <a:pt x="2451" y="4195"/>
                  <a:pt x="2451" y="6100"/>
                  <a:pt x="3140" y="7274"/>
                </a:cubicBezTo>
                <a:cubicBezTo>
                  <a:pt x="3830" y="8449"/>
                  <a:pt x="4948" y="8449"/>
                  <a:pt x="5638" y="7274"/>
                </a:cubicBezTo>
                <a:cubicBezTo>
                  <a:pt x="6328" y="6100"/>
                  <a:pt x="6328" y="4195"/>
                  <a:pt x="5638" y="3020"/>
                </a:cubicBezTo>
                <a:cubicBezTo>
                  <a:pt x="5293" y="2433"/>
                  <a:pt x="4841" y="2142"/>
                  <a:pt x="4389" y="2142"/>
                </a:cubicBezTo>
                <a:close/>
                <a:moveTo>
                  <a:pt x="7285" y="2863"/>
                </a:moveTo>
                <a:cubicBezTo>
                  <a:pt x="7149" y="2863"/>
                  <a:pt x="7037" y="3053"/>
                  <a:pt x="7037" y="3285"/>
                </a:cubicBezTo>
                <a:lnTo>
                  <a:pt x="7037" y="9282"/>
                </a:lnTo>
                <a:lnTo>
                  <a:pt x="2447" y="9282"/>
                </a:lnTo>
                <a:cubicBezTo>
                  <a:pt x="2311" y="9282"/>
                  <a:pt x="2199" y="9471"/>
                  <a:pt x="2199" y="9703"/>
                </a:cubicBezTo>
                <a:lnTo>
                  <a:pt x="2199" y="10917"/>
                </a:lnTo>
                <a:cubicBezTo>
                  <a:pt x="2199" y="11149"/>
                  <a:pt x="2311" y="11338"/>
                  <a:pt x="2447" y="11338"/>
                </a:cubicBezTo>
                <a:lnTo>
                  <a:pt x="7285" y="11338"/>
                </a:lnTo>
                <a:lnTo>
                  <a:pt x="16514" y="11338"/>
                </a:lnTo>
                <a:lnTo>
                  <a:pt x="21352" y="11338"/>
                </a:lnTo>
                <a:cubicBezTo>
                  <a:pt x="21488" y="11338"/>
                  <a:pt x="21600" y="11149"/>
                  <a:pt x="21600" y="10917"/>
                </a:cubicBezTo>
                <a:lnTo>
                  <a:pt x="21600" y="3285"/>
                </a:lnTo>
                <a:cubicBezTo>
                  <a:pt x="21600" y="3053"/>
                  <a:pt x="21488" y="2863"/>
                  <a:pt x="21352" y="2863"/>
                </a:cubicBezTo>
                <a:lnTo>
                  <a:pt x="7285" y="2863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986"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69" name="大脑"/>
          <p:cNvSpPr/>
          <p:nvPr/>
        </p:nvSpPr>
        <p:spPr>
          <a:xfrm>
            <a:off x="16691476" y="6252820"/>
            <a:ext cx="540564" cy="4562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5" h="21427" extrusionOk="0">
                <a:moveTo>
                  <a:pt x="7654" y="1"/>
                </a:moveTo>
                <a:cubicBezTo>
                  <a:pt x="6294" y="20"/>
                  <a:pt x="4753" y="903"/>
                  <a:pt x="4110" y="2532"/>
                </a:cubicBezTo>
                <a:cubicBezTo>
                  <a:pt x="4110" y="2532"/>
                  <a:pt x="4104" y="2532"/>
                  <a:pt x="4104" y="2532"/>
                </a:cubicBezTo>
                <a:cubicBezTo>
                  <a:pt x="3722" y="3624"/>
                  <a:pt x="3929" y="4445"/>
                  <a:pt x="3945" y="4495"/>
                </a:cubicBezTo>
                <a:cubicBezTo>
                  <a:pt x="3976" y="4602"/>
                  <a:pt x="3935" y="4724"/>
                  <a:pt x="3855" y="4767"/>
                </a:cubicBezTo>
                <a:cubicBezTo>
                  <a:pt x="3839" y="4774"/>
                  <a:pt x="3828" y="4781"/>
                  <a:pt x="3812" y="4781"/>
                </a:cubicBezTo>
                <a:cubicBezTo>
                  <a:pt x="3743" y="4788"/>
                  <a:pt x="3679" y="4730"/>
                  <a:pt x="3653" y="4644"/>
                </a:cubicBezTo>
                <a:cubicBezTo>
                  <a:pt x="3642" y="4595"/>
                  <a:pt x="3430" y="3790"/>
                  <a:pt x="3722" y="2691"/>
                </a:cubicBezTo>
                <a:cubicBezTo>
                  <a:pt x="3754" y="2562"/>
                  <a:pt x="3690" y="2425"/>
                  <a:pt x="3590" y="2425"/>
                </a:cubicBezTo>
                <a:cubicBezTo>
                  <a:pt x="1950" y="2425"/>
                  <a:pt x="273" y="5524"/>
                  <a:pt x="347" y="7372"/>
                </a:cubicBezTo>
                <a:cubicBezTo>
                  <a:pt x="353" y="7515"/>
                  <a:pt x="475" y="7579"/>
                  <a:pt x="555" y="7493"/>
                </a:cubicBezTo>
                <a:cubicBezTo>
                  <a:pt x="778" y="7236"/>
                  <a:pt x="1021" y="7029"/>
                  <a:pt x="1281" y="6886"/>
                </a:cubicBezTo>
                <a:cubicBezTo>
                  <a:pt x="1350" y="6850"/>
                  <a:pt x="1429" y="6879"/>
                  <a:pt x="1472" y="6964"/>
                </a:cubicBezTo>
                <a:cubicBezTo>
                  <a:pt x="1530" y="7078"/>
                  <a:pt x="1487" y="7236"/>
                  <a:pt x="1397" y="7279"/>
                </a:cubicBezTo>
                <a:cubicBezTo>
                  <a:pt x="1036" y="7471"/>
                  <a:pt x="750" y="7772"/>
                  <a:pt x="516" y="8129"/>
                </a:cubicBezTo>
                <a:cubicBezTo>
                  <a:pt x="-529" y="10034"/>
                  <a:pt x="140" y="12853"/>
                  <a:pt x="1392" y="14423"/>
                </a:cubicBezTo>
                <a:cubicBezTo>
                  <a:pt x="1610" y="14680"/>
                  <a:pt x="1833" y="14902"/>
                  <a:pt x="2056" y="15088"/>
                </a:cubicBezTo>
                <a:cubicBezTo>
                  <a:pt x="2156" y="15166"/>
                  <a:pt x="2358" y="15310"/>
                  <a:pt x="2352" y="15324"/>
                </a:cubicBezTo>
                <a:cubicBezTo>
                  <a:pt x="3759" y="16381"/>
                  <a:pt x="5347" y="16295"/>
                  <a:pt x="5973" y="16216"/>
                </a:cubicBezTo>
                <a:cubicBezTo>
                  <a:pt x="6105" y="16202"/>
                  <a:pt x="6238" y="16244"/>
                  <a:pt x="6344" y="16344"/>
                </a:cubicBezTo>
                <a:cubicBezTo>
                  <a:pt x="6567" y="16543"/>
                  <a:pt x="8073" y="17950"/>
                  <a:pt x="10605" y="17872"/>
                </a:cubicBezTo>
                <a:cubicBezTo>
                  <a:pt x="11231" y="17850"/>
                  <a:pt x="12001" y="17751"/>
                  <a:pt x="12824" y="17401"/>
                </a:cubicBezTo>
                <a:cubicBezTo>
                  <a:pt x="13912" y="16937"/>
                  <a:pt x="14755" y="15760"/>
                  <a:pt x="14686" y="14325"/>
                </a:cubicBezTo>
                <a:cubicBezTo>
                  <a:pt x="14506" y="12369"/>
                  <a:pt x="13817" y="11205"/>
                  <a:pt x="12469" y="10377"/>
                </a:cubicBezTo>
                <a:cubicBezTo>
                  <a:pt x="11806" y="9970"/>
                  <a:pt x="11046" y="9898"/>
                  <a:pt x="10467" y="9926"/>
                </a:cubicBezTo>
                <a:cubicBezTo>
                  <a:pt x="10122" y="9948"/>
                  <a:pt x="9815" y="9999"/>
                  <a:pt x="9550" y="10056"/>
                </a:cubicBezTo>
                <a:lnTo>
                  <a:pt x="9512" y="10069"/>
                </a:lnTo>
                <a:cubicBezTo>
                  <a:pt x="8599" y="10283"/>
                  <a:pt x="8137" y="10662"/>
                  <a:pt x="8132" y="10669"/>
                </a:cubicBezTo>
                <a:cubicBezTo>
                  <a:pt x="8111" y="10691"/>
                  <a:pt x="8085" y="10698"/>
                  <a:pt x="8064" y="10698"/>
                </a:cubicBezTo>
                <a:cubicBezTo>
                  <a:pt x="8006" y="10705"/>
                  <a:pt x="7952" y="10669"/>
                  <a:pt x="7920" y="10598"/>
                </a:cubicBezTo>
                <a:cubicBezTo>
                  <a:pt x="7872" y="10498"/>
                  <a:pt x="7899" y="10370"/>
                  <a:pt x="7968" y="10306"/>
                </a:cubicBezTo>
                <a:cubicBezTo>
                  <a:pt x="7989" y="10291"/>
                  <a:pt x="8266" y="10062"/>
                  <a:pt x="8807" y="9848"/>
                </a:cubicBezTo>
                <a:cubicBezTo>
                  <a:pt x="8903" y="9813"/>
                  <a:pt x="8918" y="9641"/>
                  <a:pt x="8839" y="9570"/>
                </a:cubicBezTo>
                <a:cubicBezTo>
                  <a:pt x="8313" y="9098"/>
                  <a:pt x="7617" y="8270"/>
                  <a:pt x="7416" y="7071"/>
                </a:cubicBezTo>
                <a:cubicBezTo>
                  <a:pt x="7394" y="6957"/>
                  <a:pt x="7448" y="6843"/>
                  <a:pt x="7533" y="6821"/>
                </a:cubicBezTo>
                <a:cubicBezTo>
                  <a:pt x="7618" y="6793"/>
                  <a:pt x="7698" y="6865"/>
                  <a:pt x="7719" y="6987"/>
                </a:cubicBezTo>
                <a:cubicBezTo>
                  <a:pt x="7942" y="8321"/>
                  <a:pt x="8912" y="9179"/>
                  <a:pt x="9358" y="9507"/>
                </a:cubicBezTo>
                <a:cubicBezTo>
                  <a:pt x="9469" y="9586"/>
                  <a:pt x="9597" y="9620"/>
                  <a:pt x="9719" y="9592"/>
                </a:cubicBezTo>
                <a:cubicBezTo>
                  <a:pt x="10234" y="9492"/>
                  <a:pt x="11518" y="9334"/>
                  <a:pt x="12595" y="9998"/>
                </a:cubicBezTo>
                <a:cubicBezTo>
                  <a:pt x="12998" y="10240"/>
                  <a:pt x="13345" y="10521"/>
                  <a:pt x="13636" y="10828"/>
                </a:cubicBezTo>
                <a:cubicBezTo>
                  <a:pt x="13743" y="10942"/>
                  <a:pt x="13897" y="10948"/>
                  <a:pt x="14008" y="10841"/>
                </a:cubicBezTo>
                <a:cubicBezTo>
                  <a:pt x="14640" y="10241"/>
                  <a:pt x="15270" y="10013"/>
                  <a:pt x="15902" y="10156"/>
                </a:cubicBezTo>
                <a:cubicBezTo>
                  <a:pt x="16756" y="10356"/>
                  <a:pt x="17361" y="11205"/>
                  <a:pt x="17584" y="11691"/>
                </a:cubicBezTo>
                <a:cubicBezTo>
                  <a:pt x="17626" y="11784"/>
                  <a:pt x="17616" y="11912"/>
                  <a:pt x="17552" y="11983"/>
                </a:cubicBezTo>
                <a:cubicBezTo>
                  <a:pt x="17526" y="12011"/>
                  <a:pt x="17499" y="12025"/>
                  <a:pt x="17468" y="12025"/>
                </a:cubicBezTo>
                <a:cubicBezTo>
                  <a:pt x="17414" y="12032"/>
                  <a:pt x="17357" y="11996"/>
                  <a:pt x="17325" y="11925"/>
                </a:cubicBezTo>
                <a:cubicBezTo>
                  <a:pt x="17144" y="11532"/>
                  <a:pt x="16602" y="10749"/>
                  <a:pt x="15849" y="10578"/>
                </a:cubicBezTo>
                <a:cubicBezTo>
                  <a:pt x="15313" y="10456"/>
                  <a:pt x="14766" y="10648"/>
                  <a:pt x="14214" y="11169"/>
                </a:cubicBezTo>
                <a:cubicBezTo>
                  <a:pt x="14123" y="11254"/>
                  <a:pt x="14108" y="11418"/>
                  <a:pt x="14177" y="11532"/>
                </a:cubicBezTo>
                <a:cubicBezTo>
                  <a:pt x="14389" y="11875"/>
                  <a:pt x="14565" y="12262"/>
                  <a:pt x="14698" y="12683"/>
                </a:cubicBezTo>
                <a:cubicBezTo>
                  <a:pt x="14847" y="13169"/>
                  <a:pt x="14952" y="13695"/>
                  <a:pt x="15005" y="14316"/>
                </a:cubicBezTo>
                <a:cubicBezTo>
                  <a:pt x="16369" y="14966"/>
                  <a:pt x="19967" y="14602"/>
                  <a:pt x="20652" y="11448"/>
                </a:cubicBezTo>
                <a:cubicBezTo>
                  <a:pt x="21071" y="9520"/>
                  <a:pt x="20280" y="7208"/>
                  <a:pt x="19086" y="6630"/>
                </a:cubicBezTo>
                <a:cubicBezTo>
                  <a:pt x="18943" y="6558"/>
                  <a:pt x="18795" y="6680"/>
                  <a:pt x="18758" y="6879"/>
                </a:cubicBezTo>
                <a:cubicBezTo>
                  <a:pt x="18652" y="7472"/>
                  <a:pt x="18444" y="7944"/>
                  <a:pt x="18242" y="8258"/>
                </a:cubicBezTo>
                <a:cubicBezTo>
                  <a:pt x="18189" y="8336"/>
                  <a:pt x="18189" y="8458"/>
                  <a:pt x="18242" y="8543"/>
                </a:cubicBezTo>
                <a:cubicBezTo>
                  <a:pt x="18338" y="8693"/>
                  <a:pt x="18481" y="8971"/>
                  <a:pt x="18635" y="9442"/>
                </a:cubicBezTo>
                <a:cubicBezTo>
                  <a:pt x="18667" y="9542"/>
                  <a:pt x="18640" y="9678"/>
                  <a:pt x="18565" y="9728"/>
                </a:cubicBezTo>
                <a:cubicBezTo>
                  <a:pt x="18544" y="9742"/>
                  <a:pt x="18529" y="9748"/>
                  <a:pt x="18507" y="9748"/>
                </a:cubicBezTo>
                <a:cubicBezTo>
                  <a:pt x="18438" y="9755"/>
                  <a:pt x="18375" y="9700"/>
                  <a:pt x="18348" y="9614"/>
                </a:cubicBezTo>
                <a:cubicBezTo>
                  <a:pt x="18348" y="9607"/>
                  <a:pt x="18226" y="9179"/>
                  <a:pt x="17977" y="8793"/>
                </a:cubicBezTo>
                <a:cubicBezTo>
                  <a:pt x="17653" y="8301"/>
                  <a:pt x="17271" y="8108"/>
                  <a:pt x="16836" y="8222"/>
                </a:cubicBezTo>
                <a:cubicBezTo>
                  <a:pt x="16740" y="8244"/>
                  <a:pt x="16650" y="8150"/>
                  <a:pt x="16650" y="8015"/>
                </a:cubicBezTo>
                <a:cubicBezTo>
                  <a:pt x="16650" y="7908"/>
                  <a:pt x="16708" y="7822"/>
                  <a:pt x="16783" y="7807"/>
                </a:cubicBezTo>
                <a:cubicBezTo>
                  <a:pt x="17244" y="7686"/>
                  <a:pt x="17610" y="7886"/>
                  <a:pt x="17791" y="8022"/>
                </a:cubicBezTo>
                <a:cubicBezTo>
                  <a:pt x="17871" y="8079"/>
                  <a:pt x="17971" y="8057"/>
                  <a:pt x="18030" y="7957"/>
                </a:cubicBezTo>
                <a:cubicBezTo>
                  <a:pt x="18444" y="7300"/>
                  <a:pt x="18980" y="5845"/>
                  <a:pt x="18215" y="4332"/>
                </a:cubicBezTo>
                <a:cubicBezTo>
                  <a:pt x="17738" y="3390"/>
                  <a:pt x="16750" y="2824"/>
                  <a:pt x="15965" y="2789"/>
                </a:cubicBezTo>
                <a:cubicBezTo>
                  <a:pt x="15901" y="2789"/>
                  <a:pt x="15843" y="2790"/>
                  <a:pt x="15779" y="2798"/>
                </a:cubicBezTo>
                <a:cubicBezTo>
                  <a:pt x="15647" y="2812"/>
                  <a:pt x="15403" y="2824"/>
                  <a:pt x="15074" y="2931"/>
                </a:cubicBezTo>
                <a:cubicBezTo>
                  <a:pt x="14560" y="3096"/>
                  <a:pt x="14279" y="3382"/>
                  <a:pt x="14273" y="3382"/>
                </a:cubicBezTo>
                <a:cubicBezTo>
                  <a:pt x="14204" y="3453"/>
                  <a:pt x="14107" y="3433"/>
                  <a:pt x="14054" y="3333"/>
                </a:cubicBezTo>
                <a:cubicBezTo>
                  <a:pt x="14007" y="3240"/>
                  <a:pt x="14019" y="3103"/>
                  <a:pt x="14088" y="3039"/>
                </a:cubicBezTo>
                <a:cubicBezTo>
                  <a:pt x="14114" y="3010"/>
                  <a:pt x="14470" y="2669"/>
                  <a:pt x="15096" y="2483"/>
                </a:cubicBezTo>
                <a:cubicBezTo>
                  <a:pt x="15186" y="2455"/>
                  <a:pt x="15227" y="2304"/>
                  <a:pt x="15169" y="2204"/>
                </a:cubicBezTo>
                <a:cubicBezTo>
                  <a:pt x="14341" y="648"/>
                  <a:pt x="11471" y="-173"/>
                  <a:pt x="10170" y="641"/>
                </a:cubicBezTo>
                <a:cubicBezTo>
                  <a:pt x="10048" y="719"/>
                  <a:pt x="9996" y="919"/>
                  <a:pt x="10059" y="1076"/>
                </a:cubicBezTo>
                <a:cubicBezTo>
                  <a:pt x="10203" y="1461"/>
                  <a:pt x="10265" y="1904"/>
                  <a:pt x="10233" y="2325"/>
                </a:cubicBezTo>
                <a:cubicBezTo>
                  <a:pt x="10228" y="2432"/>
                  <a:pt x="10165" y="2512"/>
                  <a:pt x="10091" y="2519"/>
                </a:cubicBezTo>
                <a:cubicBezTo>
                  <a:pt x="10080" y="2519"/>
                  <a:pt x="10075" y="2519"/>
                  <a:pt x="10064" y="2519"/>
                </a:cubicBezTo>
                <a:cubicBezTo>
                  <a:pt x="9979" y="2505"/>
                  <a:pt x="9916" y="2404"/>
                  <a:pt x="9927" y="2282"/>
                </a:cubicBezTo>
                <a:cubicBezTo>
                  <a:pt x="9937" y="2140"/>
                  <a:pt x="10011" y="1106"/>
                  <a:pt x="9295" y="520"/>
                </a:cubicBezTo>
                <a:cubicBezTo>
                  <a:pt x="8854" y="161"/>
                  <a:pt x="8273" y="-8"/>
                  <a:pt x="7654" y="1"/>
                </a:cubicBezTo>
                <a:close/>
                <a:moveTo>
                  <a:pt x="6930" y="3139"/>
                </a:moveTo>
                <a:cubicBezTo>
                  <a:pt x="7435" y="3144"/>
                  <a:pt x="7913" y="3351"/>
                  <a:pt x="8361" y="3761"/>
                </a:cubicBezTo>
                <a:cubicBezTo>
                  <a:pt x="8886" y="4239"/>
                  <a:pt x="9242" y="4895"/>
                  <a:pt x="9449" y="5352"/>
                </a:cubicBezTo>
                <a:cubicBezTo>
                  <a:pt x="9491" y="5444"/>
                  <a:pt x="9582" y="5480"/>
                  <a:pt x="9656" y="5430"/>
                </a:cubicBezTo>
                <a:cubicBezTo>
                  <a:pt x="10925" y="4509"/>
                  <a:pt x="12288" y="4695"/>
                  <a:pt x="13403" y="5952"/>
                </a:cubicBezTo>
                <a:cubicBezTo>
                  <a:pt x="13456" y="6009"/>
                  <a:pt x="13535" y="6015"/>
                  <a:pt x="13593" y="5958"/>
                </a:cubicBezTo>
                <a:cubicBezTo>
                  <a:pt x="13795" y="5758"/>
                  <a:pt x="14331" y="5353"/>
                  <a:pt x="15154" y="5617"/>
                </a:cubicBezTo>
                <a:cubicBezTo>
                  <a:pt x="15239" y="5631"/>
                  <a:pt x="15291" y="5745"/>
                  <a:pt x="15270" y="5867"/>
                </a:cubicBezTo>
                <a:cubicBezTo>
                  <a:pt x="15249" y="5981"/>
                  <a:pt x="15164" y="6045"/>
                  <a:pt x="15079" y="6016"/>
                </a:cubicBezTo>
                <a:cubicBezTo>
                  <a:pt x="14527" y="5866"/>
                  <a:pt x="14076" y="5967"/>
                  <a:pt x="13736" y="6331"/>
                </a:cubicBezTo>
                <a:cubicBezTo>
                  <a:pt x="13418" y="6673"/>
                  <a:pt x="13217" y="7243"/>
                  <a:pt x="13195" y="7856"/>
                </a:cubicBezTo>
                <a:cubicBezTo>
                  <a:pt x="13190" y="7964"/>
                  <a:pt x="13132" y="8050"/>
                  <a:pt x="13053" y="8057"/>
                </a:cubicBezTo>
                <a:cubicBezTo>
                  <a:pt x="13026" y="8057"/>
                  <a:pt x="13000" y="8057"/>
                  <a:pt x="12973" y="8028"/>
                </a:cubicBezTo>
                <a:cubicBezTo>
                  <a:pt x="12915" y="7985"/>
                  <a:pt x="12882" y="7900"/>
                  <a:pt x="12887" y="7814"/>
                </a:cubicBezTo>
                <a:cubicBezTo>
                  <a:pt x="12903" y="7336"/>
                  <a:pt x="13015" y="6880"/>
                  <a:pt x="13195" y="6509"/>
                </a:cubicBezTo>
                <a:cubicBezTo>
                  <a:pt x="13243" y="6416"/>
                  <a:pt x="13228" y="6295"/>
                  <a:pt x="13164" y="6224"/>
                </a:cubicBezTo>
                <a:cubicBezTo>
                  <a:pt x="11630" y="4532"/>
                  <a:pt x="10133" y="5487"/>
                  <a:pt x="9543" y="5994"/>
                </a:cubicBezTo>
                <a:cubicBezTo>
                  <a:pt x="9464" y="6058"/>
                  <a:pt x="9364" y="6023"/>
                  <a:pt x="9321" y="5909"/>
                </a:cubicBezTo>
                <a:cubicBezTo>
                  <a:pt x="9194" y="5559"/>
                  <a:pt x="8827" y="4688"/>
                  <a:pt x="8185" y="4102"/>
                </a:cubicBezTo>
                <a:cubicBezTo>
                  <a:pt x="7548" y="3524"/>
                  <a:pt x="6843" y="3403"/>
                  <a:pt x="6084" y="3746"/>
                </a:cubicBezTo>
                <a:cubicBezTo>
                  <a:pt x="5999" y="3781"/>
                  <a:pt x="5909" y="3717"/>
                  <a:pt x="5888" y="3603"/>
                </a:cubicBezTo>
                <a:cubicBezTo>
                  <a:pt x="5867" y="3496"/>
                  <a:pt x="5915" y="3375"/>
                  <a:pt x="5994" y="3346"/>
                </a:cubicBezTo>
                <a:cubicBezTo>
                  <a:pt x="6315" y="3204"/>
                  <a:pt x="6627" y="3136"/>
                  <a:pt x="6930" y="3139"/>
                </a:cubicBezTo>
                <a:close/>
                <a:moveTo>
                  <a:pt x="4412" y="7120"/>
                </a:moveTo>
                <a:cubicBezTo>
                  <a:pt x="4454" y="7118"/>
                  <a:pt x="4496" y="7136"/>
                  <a:pt x="4528" y="7178"/>
                </a:cubicBezTo>
                <a:cubicBezTo>
                  <a:pt x="5112" y="7964"/>
                  <a:pt x="5357" y="9491"/>
                  <a:pt x="4678" y="11169"/>
                </a:cubicBezTo>
                <a:cubicBezTo>
                  <a:pt x="4630" y="11290"/>
                  <a:pt x="4688" y="11440"/>
                  <a:pt x="4789" y="11448"/>
                </a:cubicBezTo>
                <a:cubicBezTo>
                  <a:pt x="5622" y="11512"/>
                  <a:pt x="7236" y="11876"/>
                  <a:pt x="8250" y="13725"/>
                </a:cubicBezTo>
                <a:cubicBezTo>
                  <a:pt x="8287" y="13789"/>
                  <a:pt x="8351" y="13816"/>
                  <a:pt x="8409" y="13781"/>
                </a:cubicBezTo>
                <a:cubicBezTo>
                  <a:pt x="9009" y="13474"/>
                  <a:pt x="9645" y="13354"/>
                  <a:pt x="10245" y="13439"/>
                </a:cubicBezTo>
                <a:cubicBezTo>
                  <a:pt x="10314" y="13447"/>
                  <a:pt x="10373" y="13374"/>
                  <a:pt x="10373" y="13281"/>
                </a:cubicBezTo>
                <a:cubicBezTo>
                  <a:pt x="10373" y="12831"/>
                  <a:pt x="10547" y="12183"/>
                  <a:pt x="11237" y="11833"/>
                </a:cubicBezTo>
                <a:cubicBezTo>
                  <a:pt x="11322" y="11791"/>
                  <a:pt x="11413" y="11855"/>
                  <a:pt x="11439" y="11970"/>
                </a:cubicBezTo>
                <a:cubicBezTo>
                  <a:pt x="11466" y="12077"/>
                  <a:pt x="11417" y="12190"/>
                  <a:pt x="11338" y="12233"/>
                </a:cubicBezTo>
                <a:cubicBezTo>
                  <a:pt x="10547" y="12640"/>
                  <a:pt x="10691" y="13418"/>
                  <a:pt x="10696" y="13446"/>
                </a:cubicBezTo>
                <a:cubicBezTo>
                  <a:pt x="10707" y="13510"/>
                  <a:pt x="10743" y="13552"/>
                  <a:pt x="10786" y="13567"/>
                </a:cubicBezTo>
                <a:cubicBezTo>
                  <a:pt x="11391" y="13788"/>
                  <a:pt x="11889" y="14216"/>
                  <a:pt x="12170" y="14780"/>
                </a:cubicBezTo>
                <a:cubicBezTo>
                  <a:pt x="12218" y="14873"/>
                  <a:pt x="12208" y="15010"/>
                  <a:pt x="12144" y="15074"/>
                </a:cubicBezTo>
                <a:cubicBezTo>
                  <a:pt x="12117" y="15103"/>
                  <a:pt x="12091" y="15117"/>
                  <a:pt x="12059" y="15117"/>
                </a:cubicBezTo>
                <a:cubicBezTo>
                  <a:pt x="12006" y="15124"/>
                  <a:pt x="11954" y="15087"/>
                  <a:pt x="11917" y="15023"/>
                </a:cubicBezTo>
                <a:cubicBezTo>
                  <a:pt x="11386" y="13945"/>
                  <a:pt x="9852" y="13361"/>
                  <a:pt x="8308" y="14289"/>
                </a:cubicBezTo>
                <a:cubicBezTo>
                  <a:pt x="8239" y="14332"/>
                  <a:pt x="8160" y="14295"/>
                  <a:pt x="8117" y="14209"/>
                </a:cubicBezTo>
                <a:cubicBezTo>
                  <a:pt x="6870" y="11625"/>
                  <a:pt x="4296" y="11862"/>
                  <a:pt x="4270" y="11862"/>
                </a:cubicBezTo>
                <a:lnTo>
                  <a:pt x="3961" y="11847"/>
                </a:lnTo>
                <a:cubicBezTo>
                  <a:pt x="3924" y="11818"/>
                  <a:pt x="3892" y="11768"/>
                  <a:pt x="3881" y="11711"/>
                </a:cubicBezTo>
                <a:cubicBezTo>
                  <a:pt x="3759" y="11011"/>
                  <a:pt x="3176" y="10055"/>
                  <a:pt x="2332" y="9641"/>
                </a:cubicBezTo>
                <a:cubicBezTo>
                  <a:pt x="2263" y="9605"/>
                  <a:pt x="2209" y="9514"/>
                  <a:pt x="2220" y="9407"/>
                </a:cubicBezTo>
                <a:cubicBezTo>
                  <a:pt x="2236" y="9271"/>
                  <a:pt x="2337" y="9192"/>
                  <a:pt x="2427" y="9235"/>
                </a:cubicBezTo>
                <a:cubicBezTo>
                  <a:pt x="2788" y="9406"/>
                  <a:pt x="3170" y="9735"/>
                  <a:pt x="3483" y="10120"/>
                </a:cubicBezTo>
                <a:cubicBezTo>
                  <a:pt x="3680" y="10363"/>
                  <a:pt x="3913" y="10720"/>
                  <a:pt x="4067" y="11162"/>
                </a:cubicBezTo>
                <a:cubicBezTo>
                  <a:pt x="4115" y="11291"/>
                  <a:pt x="4248" y="11306"/>
                  <a:pt x="4306" y="11184"/>
                </a:cubicBezTo>
                <a:cubicBezTo>
                  <a:pt x="5022" y="9614"/>
                  <a:pt x="4831" y="8186"/>
                  <a:pt x="4311" y="7486"/>
                </a:cubicBezTo>
                <a:cubicBezTo>
                  <a:pt x="4253" y="7408"/>
                  <a:pt x="4243" y="7273"/>
                  <a:pt x="4301" y="7194"/>
                </a:cubicBezTo>
                <a:cubicBezTo>
                  <a:pt x="4330" y="7148"/>
                  <a:pt x="4370" y="7123"/>
                  <a:pt x="4412" y="7120"/>
                </a:cubicBezTo>
                <a:close/>
                <a:moveTo>
                  <a:pt x="2258" y="15717"/>
                </a:moveTo>
                <a:cubicBezTo>
                  <a:pt x="1971" y="17680"/>
                  <a:pt x="4031" y="19435"/>
                  <a:pt x="5702" y="18764"/>
                </a:cubicBezTo>
                <a:cubicBezTo>
                  <a:pt x="5612" y="19699"/>
                  <a:pt x="5001" y="21083"/>
                  <a:pt x="5001" y="21083"/>
                </a:cubicBezTo>
                <a:lnTo>
                  <a:pt x="6238" y="21427"/>
                </a:lnTo>
                <a:lnTo>
                  <a:pt x="8727" y="18063"/>
                </a:lnTo>
                <a:cubicBezTo>
                  <a:pt x="7390" y="17742"/>
                  <a:pt x="6699" y="17172"/>
                  <a:pt x="6333" y="16843"/>
                </a:cubicBezTo>
                <a:cubicBezTo>
                  <a:pt x="6163" y="16686"/>
                  <a:pt x="5962" y="16614"/>
                  <a:pt x="5761" y="16636"/>
                </a:cubicBezTo>
                <a:cubicBezTo>
                  <a:pt x="5442" y="16672"/>
                  <a:pt x="4954" y="16693"/>
                  <a:pt x="4381" y="16593"/>
                </a:cubicBezTo>
                <a:cubicBezTo>
                  <a:pt x="3786" y="16494"/>
                  <a:pt x="3027" y="16259"/>
                  <a:pt x="2258" y="1571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600">
              <a:solidFill>
                <a:srgbClr val="AB4B4A"/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73" name="Restless…"/>
          <p:cNvSpPr txBox="1"/>
          <p:nvPr/>
        </p:nvSpPr>
        <p:spPr>
          <a:xfrm>
            <a:off x="15474618" y="5583482"/>
            <a:ext cx="881228" cy="71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Restless</a:t>
            </a:r>
          </a:p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Sleep</a:t>
            </a:r>
          </a:p>
        </p:txBody>
      </p:sp>
      <p:sp>
        <p:nvSpPr>
          <p:cNvPr id="174" name="Visual…"/>
          <p:cNvSpPr txBox="1"/>
          <p:nvPr/>
        </p:nvSpPr>
        <p:spPr>
          <a:xfrm>
            <a:off x="16286863" y="5606977"/>
            <a:ext cx="1232286" cy="71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Visual</a:t>
            </a:r>
          </a:p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Impairment</a:t>
            </a:r>
          </a:p>
        </p:txBody>
      </p:sp>
      <p:sp>
        <p:nvSpPr>
          <p:cNvPr id="175" name="Hearing…"/>
          <p:cNvSpPr txBox="1"/>
          <p:nvPr/>
        </p:nvSpPr>
        <p:spPr>
          <a:xfrm>
            <a:off x="17440584" y="5620865"/>
            <a:ext cx="1232286" cy="71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Hearing</a:t>
            </a:r>
          </a:p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Impairment</a:t>
            </a:r>
          </a:p>
        </p:txBody>
      </p:sp>
      <p:sp>
        <p:nvSpPr>
          <p:cNvPr id="176" name="Physical…"/>
          <p:cNvSpPr txBox="1"/>
          <p:nvPr/>
        </p:nvSpPr>
        <p:spPr>
          <a:xfrm>
            <a:off x="15481036" y="6643350"/>
            <a:ext cx="868403" cy="71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Physical</a:t>
            </a:r>
          </a:p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Frailty</a:t>
            </a:r>
          </a:p>
        </p:txBody>
      </p:sp>
      <p:sp>
        <p:nvSpPr>
          <p:cNvPr id="177" name="Cognitive…"/>
          <p:cNvSpPr txBox="1"/>
          <p:nvPr/>
        </p:nvSpPr>
        <p:spPr>
          <a:xfrm>
            <a:off x="16347304" y="6684553"/>
            <a:ext cx="1232286" cy="714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Cognitive</a:t>
            </a:r>
          </a:p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Impairment</a:t>
            </a:r>
          </a:p>
        </p:txBody>
      </p:sp>
      <p:sp>
        <p:nvSpPr>
          <p:cNvPr id="178" name="Depression…"/>
          <p:cNvSpPr txBox="1"/>
          <p:nvPr/>
        </p:nvSpPr>
        <p:spPr>
          <a:xfrm>
            <a:off x="17451034" y="6807916"/>
            <a:ext cx="1192211" cy="410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/>
          <a:p>
            <a:pPr>
              <a:defRPr sz="1500" b="0"/>
            </a:pPr>
            <a:r>
              <a:rPr sz="18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Depression</a:t>
            </a:r>
          </a:p>
        </p:txBody>
      </p:sp>
      <p:pic>
        <p:nvPicPr>
          <p:cNvPr id="180" name="截屏2023-08-11 14.38.16.png" descr="截屏2023-08-11 14.38.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787" y="9212103"/>
            <a:ext cx="5358444" cy="4369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截屏2023-08-11 14.39.57.png" descr="截屏2023-08-11 14.39.57.png"/>
          <p:cNvPicPr>
            <a:picLocks noChangeAspect="1"/>
          </p:cNvPicPr>
          <p:nvPr/>
        </p:nvPicPr>
        <p:blipFill>
          <a:blip r:embed="rId6"/>
          <a:srcRect l="22637"/>
          <a:stretch>
            <a:fillRect/>
          </a:stretch>
        </p:blipFill>
        <p:spPr>
          <a:xfrm>
            <a:off x="7765541" y="8857978"/>
            <a:ext cx="4700783" cy="34673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图像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68470" y="6163659"/>
            <a:ext cx="634516" cy="634516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79118B-C142-D43F-9BB4-8C150DB1E6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2230" y="11932010"/>
            <a:ext cx="4163011" cy="34558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237FB0-A4F7-39F8-F9D3-D507DA602FE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250"/>
          <a:stretch/>
        </p:blipFill>
        <p:spPr>
          <a:xfrm>
            <a:off x="1646348" y="9122619"/>
            <a:ext cx="4953950" cy="45911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A6862BD-97D9-986C-E5C2-404ECF0B8AB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biLevel thresh="50000"/>
          </a:blip>
          <a:srcRect t="6609" b="8959"/>
          <a:stretch/>
        </p:blipFill>
        <p:spPr>
          <a:xfrm>
            <a:off x="16578755" y="5119564"/>
            <a:ext cx="739207" cy="5617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C058CB9-B4FE-B895-5F6A-DCC3B7B33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50000"/>
          </a:blip>
          <a:stretch>
            <a:fillRect/>
          </a:stretch>
        </p:blipFill>
        <p:spPr>
          <a:xfrm>
            <a:off x="17634770" y="5072685"/>
            <a:ext cx="636094" cy="62386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1540985-8E9C-2C5C-7301-8F6139EC2C45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659"/>
          <a:stretch/>
        </p:blipFill>
        <p:spPr>
          <a:xfrm>
            <a:off x="15758529" y="6221782"/>
            <a:ext cx="276366" cy="51744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856EC9-944E-1411-4ACB-F88B5247DD63}"/>
              </a:ext>
            </a:extLst>
          </p:cNvPr>
          <p:cNvSpPr txBox="1"/>
          <p:nvPr/>
        </p:nvSpPr>
        <p:spPr>
          <a:xfrm>
            <a:off x="6109487" y="5130878"/>
            <a:ext cx="8703883" cy="4650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7415" tIns="47415" rIns="47415" bIns="47415" numCol="1" spcCol="38100" rtlCol="0" anchor="ctr">
            <a:spAutoFit/>
          </a:bodyPr>
          <a:lstStyle/>
          <a:p>
            <a:pPr defTabSz="770293"/>
            <a:r>
              <a:rPr lang="en-US" altLang="zh-CN" sz="2400" dirty="0">
                <a:solidFill>
                  <a:srgbClr val="AB4B4A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Functional impairments measured repeatedly for up to 20 years</a:t>
            </a:r>
            <a:endParaRPr lang="zh-CN" altLang="en-US" sz="2400" dirty="0">
              <a:solidFill>
                <a:srgbClr val="AB4B4A"/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301798-6698-73DE-BAA2-5976BE09D6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1596" y="9396695"/>
            <a:ext cx="1828677" cy="164790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1940EC1-F8A0-2F31-1008-143FCEBE7FD4}"/>
              </a:ext>
            </a:extLst>
          </p:cNvPr>
          <p:cNvSpPr txBox="1"/>
          <p:nvPr/>
        </p:nvSpPr>
        <p:spPr>
          <a:xfrm>
            <a:off x="1446688" y="14104864"/>
            <a:ext cx="5392222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46887" indent="-246887" algn="l">
              <a:spcBef>
                <a:spcPts val="1678"/>
              </a:spcBef>
              <a:buSzPct val="125000"/>
              <a:buFontTx/>
              <a:buChar char="•"/>
              <a:defRPr sz="2000" b="0"/>
            </a:pPr>
            <a:r>
              <a:rPr lang="en-US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Incidence rates of most functional impairments increased exponentially with age (51-90 years).</a:t>
            </a:r>
          </a:p>
          <a:p>
            <a:pPr marL="246887" indent="-246887" algn="l">
              <a:spcBef>
                <a:spcPts val="1678"/>
              </a:spcBef>
              <a:buSzPct val="125000"/>
              <a:buFontTx/>
              <a:buChar char="•"/>
              <a:defRPr sz="2000" b="0"/>
            </a:pPr>
            <a:r>
              <a:rPr lang="en-US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Incidence rates of restless sleep and depression increased less rapidly with age (51-90 years).</a:t>
            </a:r>
            <a:endParaRPr lang="zh-CN" altLang="en-US" sz="2400" b="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8ECD39-E14B-74EB-805B-8178A775E3A4}"/>
              </a:ext>
            </a:extLst>
          </p:cNvPr>
          <p:cNvSpPr txBox="1"/>
          <p:nvPr/>
        </p:nvSpPr>
        <p:spPr>
          <a:xfrm>
            <a:off x="13362480" y="14187233"/>
            <a:ext cx="5457060" cy="2526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46887" indent="-246887" algn="l">
              <a:spcBef>
                <a:spcPts val="1678"/>
              </a:spcBef>
              <a:buSzPct val="125000"/>
              <a:buFontTx/>
              <a:buChar char="•"/>
              <a:defRPr sz="2000" b="0"/>
            </a:pPr>
            <a:r>
              <a:rPr lang="en-US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Functional impairments were mutually bidirectionally linked as a network.</a:t>
            </a:r>
          </a:p>
          <a:p>
            <a:pPr marL="246887" indent="-246887" algn="l">
              <a:spcBef>
                <a:spcPts val="1678"/>
              </a:spcBef>
              <a:buSzPct val="125000"/>
              <a:buFontTx/>
              <a:buChar char="•"/>
              <a:defRPr sz="2000" b="0"/>
            </a:pPr>
            <a:r>
              <a:rPr lang="en-US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Physical frailty, depression, visual impairment, and cognitive impairment independently predicted higher mortality risk.</a:t>
            </a:r>
            <a:endParaRPr lang="zh-CN" altLang="en-US" sz="2400" b="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3FEB16-0998-D160-3192-45A382D5C247}"/>
              </a:ext>
            </a:extLst>
          </p:cNvPr>
          <p:cNvSpPr txBox="1"/>
          <p:nvPr/>
        </p:nvSpPr>
        <p:spPr>
          <a:xfrm>
            <a:off x="7357881" y="15443259"/>
            <a:ext cx="537864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46887" indent="-246887" algn="l">
              <a:buSzPct val="125000"/>
              <a:buFontTx/>
              <a:buChar char="•"/>
              <a:defRPr sz="2000" b="0"/>
            </a:pPr>
            <a:r>
              <a:rPr lang="en-US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Functional impairments showed age-specific patterns of co-occurrence and progression.</a:t>
            </a:r>
            <a:endParaRPr lang="zh-CN" altLang="en-US" sz="2400" b="0" dirty="0">
              <a:solidFill>
                <a:schemeClr val="tx2">
                  <a:lumMod val="75000"/>
                </a:schemeClr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B2098E9-591D-4DEA-6D00-63BCAC5C03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93596" y="12139158"/>
            <a:ext cx="1122269" cy="304121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A1EB22C-15F2-9694-CCAB-5F35723BF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60" y="3937781"/>
            <a:ext cx="17519680" cy="880443"/>
          </a:xfrm>
          <a:prstGeom prst="rect">
            <a:avLst/>
          </a:prstGeom>
        </p:spPr>
      </p:pic>
      <p:sp>
        <p:nvSpPr>
          <p:cNvPr id="11" name="Hazard trajectory">
            <a:extLst>
              <a:ext uri="{FF2B5EF4-FFF2-40B4-BE49-F238E27FC236}">
                <a16:creationId xmlns:a16="http://schemas.microsoft.com/office/drawing/2014/main" id="{DB51C601-5E6E-94A0-40E5-3506822EC630}"/>
              </a:ext>
            </a:extLst>
          </p:cNvPr>
          <p:cNvSpPr txBox="1"/>
          <p:nvPr/>
        </p:nvSpPr>
        <p:spPr>
          <a:xfrm>
            <a:off x="8933095" y="4056536"/>
            <a:ext cx="2293474" cy="557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7415" tIns="47415" rIns="47415" bIns="47415" anchor="ctr">
            <a:spAutoFit/>
          </a:bodyPr>
          <a:lstStyle>
            <a:lvl1pPr>
              <a:defRPr b="0"/>
            </a:lvl1pPr>
          </a:lstStyle>
          <a:p>
            <a:r>
              <a:rPr lang="en-US" sz="3000" b="1" dirty="0">
                <a:solidFill>
                  <a:schemeClr val="bg1"/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Study design</a:t>
            </a:r>
            <a:endParaRPr sz="3000" b="1" dirty="0">
              <a:solidFill>
                <a:schemeClr val="bg1"/>
              </a:solidFill>
              <a:latin typeface="InterFace Trial" panose="020B0503020203020204" pitchFamily="34" charset="0"/>
              <a:cs typeface="InterFace Trial" panose="020B0503020203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940F76-276C-AAB8-2C27-124BAE28FF09}"/>
              </a:ext>
            </a:extLst>
          </p:cNvPr>
          <p:cNvSpPr txBox="1"/>
          <p:nvPr/>
        </p:nvSpPr>
        <p:spPr>
          <a:xfrm>
            <a:off x="1299860" y="16976450"/>
            <a:ext cx="1755198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" altLang="zh-CN" sz="2400" b="0" dirty="0">
                <a:solidFill>
                  <a:schemeClr val="tx2">
                    <a:lumMod val="75000"/>
                  </a:schemeClr>
                </a:solidFill>
                <a:latin typeface="InterFace Trial" panose="020B0503020203020204" pitchFamily="34" charset="0"/>
                <a:cs typeface="InterFace Trial" panose="020B0503020203020204" pitchFamily="34" charset="0"/>
              </a:rPr>
              <a:t>Chen et al., Progression and trajectory network of age-related functional impairments and their combined associations with mortality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155</Words>
  <Application>Microsoft Macintosh PowerPoint</Application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Helvetica Neue</vt:lpstr>
      <vt:lpstr>Helvetica Neue Light</vt:lpstr>
      <vt:lpstr>Helvetica Neue Medium</vt:lpstr>
      <vt:lpstr>InterFace Trial</vt:lpstr>
      <vt:lpstr>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Hui Chen</cp:lastModifiedBy>
  <cp:revision>36</cp:revision>
  <dcterms:modified xsi:type="dcterms:W3CDTF">2023-11-11T15:39:06Z</dcterms:modified>
</cp:coreProperties>
</file>